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Slab"/>
      <p:regular r:id="rId20"/>
      <p:bold r:id="rId21"/>
    </p:embeddedFon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Slab-regular.fntdata"/><Relationship Id="rId22" Type="http://schemas.openxmlformats.org/officeDocument/2006/relationships/font" Target="fonts/Roboto-regular.fntdata"/><Relationship Id="rId21" Type="http://schemas.openxmlformats.org/officeDocument/2006/relationships/font" Target="fonts/RobotoSlab-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Robot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a4587b7fb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a4587b7fb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a4587b7fb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a4587b7fb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a4587b7fb_1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a4587b7fb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a4587b7fb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a4587b7fb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a4587b7fb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a4587b7fb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a4587b7fb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a4587b7fb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a4587b7fb_1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a4587b7fb_1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a4587b7fb_1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a4587b7fb_1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a4587b7fb_1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a4587b7fb_1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a4587b7fb_1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a4587b7fb_1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a4587b7fb_1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a4587b7fb_1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a4587b7fb_1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a4587b7fb_1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b965ad3b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b965ad3b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56" name="Google Shape;56;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57" name="Google Shape;57;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58" name="Google Shape;58;p14"/>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59" name="Google Shape;59;p14"/>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60" name="Google Shape;6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cxnSp>
        <p:nvCxnSpPr>
          <p:cNvPr id="62" name="Google Shape;62;p15"/>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63" name="Google Shape;63;p15"/>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cxnSp>
        <p:nvCxnSpPr>
          <p:cNvPr id="66" name="Google Shape;66;p16"/>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67" name="Google Shape;67;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 name="Google Shape;68;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cxnSp>
        <p:nvCxnSpPr>
          <p:cNvPr id="71" name="Google Shape;71;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72" name="Google Shape;72;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3" name="Google Shape;73;p17"/>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7"/>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8" name="Google Shape;7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9" name="Shape 79"/>
        <p:cNvGrpSpPr/>
        <p:nvPr/>
      </p:nvGrpSpPr>
      <p:grpSpPr>
        <a:xfrm>
          <a:off x="0" y="0"/>
          <a:ext cx="0" cy="0"/>
          <a:chOff x="0" y="0"/>
          <a:chExt cx="0" cy="0"/>
        </a:xfrm>
      </p:grpSpPr>
      <p:cxnSp>
        <p:nvCxnSpPr>
          <p:cNvPr id="80" name="Google Shape;80;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81" name="Google Shape;81;p19"/>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2" name="Google Shape;82;p19"/>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3" name="Google Shape;8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4" name="Shape 84"/>
        <p:cNvGrpSpPr/>
        <p:nvPr/>
      </p:nvGrpSpPr>
      <p:grpSpPr>
        <a:xfrm>
          <a:off x="0" y="0"/>
          <a:ext cx="0" cy="0"/>
          <a:chOff x="0" y="0"/>
          <a:chExt cx="0" cy="0"/>
        </a:xfrm>
      </p:grpSpPr>
      <p:sp>
        <p:nvSpPr>
          <p:cNvPr id="85" name="Google Shape;85;p20"/>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6" name="Google Shape;8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7" name="Shape 87"/>
        <p:cNvGrpSpPr/>
        <p:nvPr/>
      </p:nvGrpSpPr>
      <p:grpSpPr>
        <a:xfrm>
          <a:off x="0" y="0"/>
          <a:ext cx="0" cy="0"/>
          <a:chOff x="0" y="0"/>
          <a:chExt cx="0" cy="0"/>
        </a:xfrm>
      </p:grpSpPr>
      <p:sp>
        <p:nvSpPr>
          <p:cNvPr id="88" name="Google Shape;88;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 name="Google Shape;89;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90" name="Google Shape;90;p21"/>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91" name="Google Shape;91;p21"/>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92" name="Google Shape;92;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 name="Google Shape;9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2"/>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96" name="Google Shape;9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3"/>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100" name="Google Shape;100;p23"/>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1" name="Google Shape;10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
        <p:nvSpPr>
          <p:cNvPr id="103" name="Google Shape;10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52" name="Google Shape;52;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hyperlink" Target="https://colab.research.google.com/drive/11Hm5bgR-seJ2KOfMm4FatZ15zN2S4qEE" TargetMode="External"/><Relationship Id="rId4" Type="http://schemas.openxmlformats.org/officeDocument/2006/relationships/hyperlink" Target="https://colab.research.google.com/drive/1RJhzEM4THJweEq3kmD_ICB0n62MYY9U1" TargetMode="External"/><Relationship Id="rId5" Type="http://schemas.openxmlformats.org/officeDocument/2006/relationships/hyperlink" Target="https://colab.research.google.com/drive/19qIIBblHIYoZHbb-zfHTYHRVNdqZ7Ls1#scrollTo=PkzhkXMarMJ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5"/>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IMAGE PROCESSING</a:t>
            </a:r>
            <a:endParaRPr/>
          </a:p>
        </p:txBody>
      </p:sp>
      <p:sp>
        <p:nvSpPr>
          <p:cNvPr id="109" name="Google Shape;109;p25"/>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WEEK-1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6"/>
          <p:cNvSpPr txBox="1"/>
          <p:nvPr>
            <p:ph type="title"/>
          </p:nvPr>
        </p:nvSpPr>
        <p:spPr>
          <a:xfrm>
            <a:off x="480750" y="1764950"/>
            <a:ext cx="8222100" cy="907500"/>
          </a:xfrm>
          <a:prstGeom prst="rect">
            <a:avLst/>
          </a:prstGeom>
        </p:spPr>
        <p:txBody>
          <a:bodyPr anchorCtr="0" anchor="b" bIns="91425" lIns="91425" spcFirstLastPara="1" rIns="91425" wrap="square" tIns="91425">
            <a:normAutofit fontScale="90000"/>
          </a:bodyPr>
          <a:lstStyle/>
          <a:p>
            <a:pPr indent="0" lvl="0" marL="457200" rtl="0" algn="l">
              <a:spcBef>
                <a:spcPts val="0"/>
              </a:spcBef>
              <a:spcAft>
                <a:spcPts val="0"/>
              </a:spcAft>
              <a:buNone/>
            </a:pPr>
            <a:r>
              <a:rPr lang="en-GB"/>
              <a:t>      3. Image manipulation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nvSpPr>
        <p:spPr>
          <a:xfrm>
            <a:off x="0" y="0"/>
            <a:ext cx="9144000" cy="5143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Image manipulation:</a:t>
            </a:r>
            <a:endParaRPr b="1" sz="1800">
              <a:solidFill>
                <a:schemeClr val="accent3"/>
              </a:solidFill>
              <a:latin typeface="Roboto"/>
              <a:ea typeface="Roboto"/>
              <a:cs typeface="Roboto"/>
              <a:sym typeface="Roboto"/>
            </a:endParaRPr>
          </a:p>
          <a:p>
            <a:pPr indent="0" lvl="0" marL="457200" rtl="0" algn="l">
              <a:spcBef>
                <a:spcPts val="0"/>
              </a:spcBef>
              <a:spcAft>
                <a:spcPts val="0"/>
              </a:spcAft>
              <a:buNone/>
            </a:pPr>
            <a:r>
              <a:rPr b="1" lang="en-GB" sz="1700">
                <a:solidFill>
                  <a:schemeClr val="dk1"/>
                </a:solidFill>
                <a:latin typeface="Roboto"/>
                <a:ea typeface="Roboto"/>
                <a:cs typeface="Roboto"/>
                <a:sym typeface="Roboto"/>
              </a:rPr>
              <a:t>Image manipulation means changing or modifying an image to improve it or extract import information.It includes : enhancing,transformation,filtering,editing,restoring.</a:t>
            </a:r>
            <a:endParaRPr b="1" sz="17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T</a:t>
            </a:r>
            <a:r>
              <a:rPr b="1" lang="en-GB" sz="1800">
                <a:solidFill>
                  <a:srgbClr val="980000"/>
                </a:solidFill>
                <a:highlight>
                  <a:schemeClr val="lt2"/>
                </a:highlight>
                <a:latin typeface="Roboto"/>
                <a:ea typeface="Roboto"/>
                <a:cs typeface="Roboto"/>
                <a:sym typeface="Roboto"/>
              </a:rPr>
              <a:t>ypes of image manipulation:</a:t>
            </a:r>
            <a:endParaRPr b="1" sz="1800">
              <a:solidFill>
                <a:schemeClr val="dk1"/>
              </a:solidFill>
              <a:highlight>
                <a:schemeClr val="lt1"/>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Geometric transformation- Change the position,size,or orientation of images.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Intensity/Color Manipulation- Improves contrast by spreading brightness values.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Filtering/Convolution Operations- Filtering is used to modify Pixel values using a kernel</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Morphological Operations- Used in binary images to modify shapes.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Image restoration- Fixes or cleans corrupted images:like: Noise removal,deblurring,super-resolution,missing-pixel recovery</a:t>
            </a:r>
            <a:endParaRPr sz="18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8"/>
          <p:cNvSpPr txBox="1"/>
          <p:nvPr/>
        </p:nvSpPr>
        <p:spPr>
          <a:xfrm>
            <a:off x="18425" y="-12300"/>
            <a:ext cx="9125700" cy="5155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Resize:</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Resizing means changing the width and </a:t>
            </a:r>
            <a:r>
              <a:rPr lang="en-GB" sz="1800">
                <a:solidFill>
                  <a:schemeClr val="dk1"/>
                </a:solidFill>
                <a:latin typeface="Roboto"/>
                <a:ea typeface="Roboto"/>
                <a:cs typeface="Roboto"/>
                <a:sym typeface="Roboto"/>
              </a:rPr>
              <a:t>height</a:t>
            </a:r>
            <a:r>
              <a:rPr lang="en-GB" sz="1800">
                <a:solidFill>
                  <a:schemeClr val="dk1"/>
                </a:solidFill>
                <a:latin typeface="Roboto"/>
                <a:ea typeface="Roboto"/>
                <a:cs typeface="Roboto"/>
                <a:sym typeface="Roboto"/>
              </a:rPr>
              <a:t> of the image.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It is used for making an image:</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Bigger - Upsampling - newpixel are created, interpolation decides how to fill the data</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Smaller - downsampling - it removes pixels ,sometimes details are lost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Used for standardising the image.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How resizing works: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When an image is resized , new pixel values are calculate.</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Common methods used:</a:t>
            </a:r>
            <a:endParaRPr b="1" sz="1800">
              <a:solidFill>
                <a:srgbClr val="980000"/>
              </a:solidFill>
              <a:highlight>
                <a:schemeClr val="lt2"/>
              </a:highlight>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Nearest neighbor interpolation : This is the fastest method, it picks the closest pixel,used in- simple graphics,pixel art.</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Bilinear interpolation : it </a:t>
            </a:r>
            <a:r>
              <a:rPr lang="en-GB" sz="1800">
                <a:solidFill>
                  <a:schemeClr val="dk1"/>
                </a:solidFill>
                <a:latin typeface="Roboto"/>
                <a:ea typeface="Roboto"/>
                <a:cs typeface="Roboto"/>
                <a:sym typeface="Roboto"/>
              </a:rPr>
              <a:t>considers 4 nearest pixels , used in photos and ml processing</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Bicubic interpolation : it picks 16 nearest pixels , used for high-quality resizing</a:t>
            </a:r>
            <a:endParaRPr sz="18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9"/>
          <p:cNvSpPr txBox="1"/>
          <p:nvPr/>
        </p:nvSpPr>
        <p:spPr>
          <a:xfrm>
            <a:off x="49150" y="0"/>
            <a:ext cx="9144000" cy="5076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Crop:</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Cropping means cutting out a specific rectangular region from an image and removes the rest</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Need? :</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Focus on the important subject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Remove unwanted background</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Improve composition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Change aspect ratio</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Zoom into a specific region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Prepare input for ML models</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Working -</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Cropping is done by selecting a region of interest(ROI) using coordinates</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Common cropping uses:</a:t>
            </a:r>
            <a:endParaRPr b="1" sz="1800">
              <a:solidFill>
                <a:srgbClr val="980000"/>
              </a:solidFill>
              <a:highlight>
                <a:schemeClr val="lt2"/>
              </a:highlight>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Manual crop : user selects the region with mouse </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Automatic crop : used in ml and cv for face detection crop, object detection crop</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Center crop : commonly used in deep learning, Crops the central region to a fixed size</a:t>
            </a:r>
            <a:endParaRPr sz="18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0"/>
          <p:cNvSpPr txBox="1"/>
          <p:nvPr/>
        </p:nvSpPr>
        <p:spPr>
          <a:xfrm>
            <a:off x="18425" y="21500"/>
            <a:ext cx="9125700" cy="5054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Rotate:</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Rotation means turning an image around its center by a certain angle</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Need?:</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Fixing tilted images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Image augmentation for ml models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Artistic effects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Aligning scanned documents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Correcting orientation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Matching orientation in computer vision tasks\</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Working :</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E</a:t>
            </a:r>
            <a:r>
              <a:rPr lang="en-GB" sz="1800">
                <a:solidFill>
                  <a:schemeClr val="dk1"/>
                </a:solidFill>
                <a:latin typeface="Roboto"/>
                <a:ea typeface="Roboto"/>
                <a:cs typeface="Roboto"/>
                <a:sym typeface="Roboto"/>
              </a:rPr>
              <a:t>very pixel is shifted to a new location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Every spaces may appear -&gt; filled with:</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Black pixels , white pixels , border replication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The image size may increase because corners move outward</a:t>
            </a:r>
            <a:endParaRPr sz="18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1"/>
          <p:cNvSpPr txBox="1"/>
          <p:nvPr/>
        </p:nvSpPr>
        <p:spPr>
          <a:xfrm>
            <a:off x="33800" y="21500"/>
            <a:ext cx="8987400" cy="5054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Flip:</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Flipping </a:t>
            </a:r>
            <a:r>
              <a:rPr lang="en-GB" sz="1800">
                <a:solidFill>
                  <a:schemeClr val="dk1"/>
                </a:solidFill>
                <a:latin typeface="Roboto"/>
                <a:ea typeface="Roboto"/>
                <a:cs typeface="Roboto"/>
                <a:sym typeface="Roboto"/>
              </a:rPr>
              <a:t>means</a:t>
            </a:r>
            <a:r>
              <a:rPr lang="en-GB" sz="1800">
                <a:solidFill>
                  <a:schemeClr val="dk1"/>
                </a:solidFill>
                <a:latin typeface="Roboto"/>
                <a:ea typeface="Roboto"/>
                <a:cs typeface="Roboto"/>
                <a:sym typeface="Roboto"/>
              </a:rPr>
              <a:t> mirroring an image </a:t>
            </a:r>
            <a:r>
              <a:rPr lang="en-GB" sz="1800">
                <a:solidFill>
                  <a:schemeClr val="dk1"/>
                </a:solidFill>
                <a:latin typeface="Roboto"/>
                <a:ea typeface="Roboto"/>
                <a:cs typeface="Roboto"/>
                <a:sym typeface="Roboto"/>
              </a:rPr>
              <a:t>across</a:t>
            </a:r>
            <a:r>
              <a:rPr lang="en-GB" sz="1800">
                <a:solidFill>
                  <a:schemeClr val="dk1"/>
                </a:solidFill>
                <a:latin typeface="Roboto"/>
                <a:ea typeface="Roboto"/>
                <a:cs typeface="Roboto"/>
                <a:sym typeface="Roboto"/>
              </a:rPr>
              <a:t> an axis</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T</a:t>
            </a:r>
            <a:r>
              <a:rPr b="1" lang="en-GB" sz="1800">
                <a:solidFill>
                  <a:srgbClr val="980000"/>
                </a:solidFill>
                <a:highlight>
                  <a:schemeClr val="lt2"/>
                </a:highlight>
                <a:latin typeface="Roboto"/>
                <a:ea typeface="Roboto"/>
                <a:cs typeface="Roboto"/>
                <a:sym typeface="Roboto"/>
              </a:rPr>
              <a:t>hese are of two types:</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Horizontal flip</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Mirrors the image left &lt;-&gt; right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Used in : Data augmentation , making images symmetrical , mirror effects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Vertical flip</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Mirrors the image top &lt;-&gt; bottom</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Used in : image augmentation , artistic transformations , correcting camera orientation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Bot flips(Horizontal + Vertical)</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This produces a 180 deg rotation-like effect.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Need?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Data augmentation in ml</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Creating mirror effects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Fixing incorrect camera orientation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Styling and creativity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Increasing dataset size for CNN training</a:t>
            </a:r>
            <a:endParaRPr sz="1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2"/>
          <p:cNvSpPr txBox="1"/>
          <p:nvPr/>
        </p:nvSpPr>
        <p:spPr>
          <a:xfrm>
            <a:off x="18425" y="36875"/>
            <a:ext cx="9125700" cy="5143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Working:</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Horizontal flip : each pixel at (x,y) moves to (width-x-1,y)</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Vertical flip : each pixel at (x,y) moves to (x, height-y-1)</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Flipping doesn’t change - image size , aspect ratio</a:t>
            </a:r>
            <a:endParaRPr sz="18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3"/>
          <p:cNvSpPr txBox="1"/>
          <p:nvPr/>
        </p:nvSpPr>
        <p:spPr>
          <a:xfrm>
            <a:off x="18425" y="-9225"/>
            <a:ext cx="9144000" cy="5054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Blurring:</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Blurring means making an image smoother by reducing sharp </a:t>
            </a:r>
            <a:r>
              <a:rPr lang="en-GB" sz="1800">
                <a:solidFill>
                  <a:schemeClr val="dk1"/>
                </a:solidFill>
                <a:latin typeface="Roboto"/>
                <a:ea typeface="Roboto"/>
                <a:cs typeface="Roboto"/>
                <a:sym typeface="Roboto"/>
              </a:rPr>
              <a:t>details</a:t>
            </a:r>
            <a:r>
              <a:rPr lang="en-GB" sz="1800">
                <a:solidFill>
                  <a:schemeClr val="dk1"/>
                </a:solidFill>
                <a:latin typeface="Roboto"/>
                <a:ea typeface="Roboto"/>
                <a:cs typeface="Roboto"/>
                <a:sym typeface="Roboto"/>
              </a:rPr>
              <a:t> and noises.</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Need?:</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Reducing noise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Smoothing rough edges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Preparing for edge detection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Creating background blur</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Removing details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Preprocessing for ML/CV models</a:t>
            </a:r>
            <a:endParaRPr sz="1800">
              <a:solidFill>
                <a:schemeClr val="dk1"/>
              </a:solidFill>
              <a:latin typeface="Roboto"/>
              <a:ea typeface="Roboto"/>
              <a:cs typeface="Roboto"/>
              <a:sym typeface="Roboto"/>
            </a:endParaRPr>
          </a:p>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Working:</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 It works by averaging neighbouring pixels so sudden intensity changes become softer.</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Blurring uses a kernel that slides over the image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For each pixel :</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Multiply surrounding pixels by kernel values</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Add them</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Replace center pixel with the result</a:t>
            </a:r>
            <a:endParaRPr sz="18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4"/>
          <p:cNvSpPr txBox="1"/>
          <p:nvPr/>
        </p:nvSpPr>
        <p:spPr>
          <a:xfrm>
            <a:off x="33800" y="36875"/>
            <a:ext cx="8250000" cy="51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155" name="Google Shape;155;p34"/>
          <p:cNvSpPr txBox="1"/>
          <p:nvPr/>
        </p:nvSpPr>
        <p:spPr>
          <a:xfrm>
            <a:off x="18425" y="6150"/>
            <a:ext cx="9144000" cy="4992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980000"/>
              </a:buClr>
              <a:buSzPts val="1800"/>
              <a:buFont typeface="Roboto"/>
              <a:buChar char="-"/>
            </a:pPr>
            <a:r>
              <a:rPr b="1" lang="en-GB" sz="1800">
                <a:solidFill>
                  <a:srgbClr val="980000"/>
                </a:solidFill>
                <a:highlight>
                  <a:schemeClr val="lt2"/>
                </a:highlight>
                <a:latin typeface="Roboto"/>
                <a:ea typeface="Roboto"/>
                <a:cs typeface="Roboto"/>
                <a:sym typeface="Roboto"/>
              </a:rPr>
              <a:t>Types of blur:</a:t>
            </a:r>
            <a:endParaRPr b="1" sz="1800">
              <a:solidFill>
                <a:srgbClr val="980000"/>
              </a:solidFill>
              <a:highlight>
                <a:schemeClr val="lt2"/>
              </a:highlight>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Average blur - uses simple average of surrounding pixels, good for quick noise reduction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Gaussian blur - uses a </a:t>
            </a:r>
            <a:r>
              <a:rPr lang="en-GB" sz="1800">
                <a:solidFill>
                  <a:schemeClr val="dk1"/>
                </a:solidFill>
                <a:latin typeface="Roboto"/>
                <a:ea typeface="Roboto"/>
                <a:cs typeface="Roboto"/>
                <a:sym typeface="Roboto"/>
              </a:rPr>
              <a:t>gaussian</a:t>
            </a:r>
            <a:r>
              <a:rPr lang="en-GB" sz="1800">
                <a:solidFill>
                  <a:schemeClr val="dk1"/>
                </a:solidFill>
                <a:latin typeface="Roboto"/>
                <a:ea typeface="Roboto"/>
                <a:cs typeface="Roboto"/>
                <a:sym typeface="Roboto"/>
              </a:rPr>
              <a:t> distribution,giving more weight to </a:t>
            </a:r>
            <a:r>
              <a:rPr lang="en-GB" sz="1800">
                <a:solidFill>
                  <a:schemeClr val="dk1"/>
                </a:solidFill>
                <a:latin typeface="Roboto"/>
                <a:ea typeface="Roboto"/>
                <a:cs typeface="Roboto"/>
                <a:sym typeface="Roboto"/>
              </a:rPr>
              <a:t>central</a:t>
            </a:r>
            <a:r>
              <a:rPr lang="en-GB" sz="1800">
                <a:solidFill>
                  <a:schemeClr val="dk1"/>
                </a:solidFill>
                <a:latin typeface="Roboto"/>
                <a:ea typeface="Roboto"/>
                <a:cs typeface="Roboto"/>
                <a:sym typeface="Roboto"/>
              </a:rPr>
              <a:t> pixels ,best for reducing noise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Median blur: replaces each pixel with the </a:t>
            </a:r>
            <a:r>
              <a:rPr lang="en-GB" sz="1800">
                <a:solidFill>
                  <a:schemeClr val="dk1"/>
                </a:solidFill>
                <a:latin typeface="Roboto"/>
                <a:ea typeface="Roboto"/>
                <a:cs typeface="Roboto"/>
                <a:sym typeface="Roboto"/>
              </a:rPr>
              <a:t>median</a:t>
            </a:r>
            <a:r>
              <a:rPr lang="en-GB" sz="1800">
                <a:solidFill>
                  <a:schemeClr val="dk1"/>
                </a:solidFill>
                <a:latin typeface="Roboto"/>
                <a:ea typeface="Roboto"/>
                <a:cs typeface="Roboto"/>
                <a:sym typeface="Roboto"/>
              </a:rPr>
              <a:t> of its neighbourhood, helps in removing salt-and-pepper noise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Bilateral blur :smoothes images but keeps edges sharp</a:t>
            </a:r>
            <a:endParaRPr sz="18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5"/>
          <p:cNvSpPr txBox="1"/>
          <p:nvPr/>
        </p:nvSpPr>
        <p:spPr>
          <a:xfrm>
            <a:off x="63000" y="-86025"/>
            <a:ext cx="9018000" cy="5054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Sharpen :</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Sharpening enhances edges and fine details in an image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It </a:t>
            </a:r>
            <a:r>
              <a:rPr lang="en-GB" sz="1800">
                <a:solidFill>
                  <a:schemeClr val="dk1"/>
                </a:solidFill>
                <a:latin typeface="Roboto"/>
                <a:ea typeface="Roboto"/>
                <a:cs typeface="Roboto"/>
                <a:sym typeface="Roboto"/>
              </a:rPr>
              <a:t>increases</a:t>
            </a:r>
            <a:r>
              <a:rPr lang="en-GB" sz="1800">
                <a:solidFill>
                  <a:schemeClr val="dk1"/>
                </a:solidFill>
                <a:latin typeface="Roboto"/>
                <a:ea typeface="Roboto"/>
                <a:cs typeface="Roboto"/>
                <a:sym typeface="Roboto"/>
              </a:rPr>
              <a:t> the contrast between neighbouring pixels, making image looks clearer</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It works by sharpening by using high-pass filter kernel that highlights changes in intensity</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Thresholding:</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Thresholding converts a grayscale image-&gt; binary image by comparing each </a:t>
            </a:r>
            <a:r>
              <a:rPr lang="en-GB" sz="1800">
                <a:solidFill>
                  <a:schemeClr val="dk1"/>
                </a:solidFill>
                <a:latin typeface="Roboto"/>
                <a:ea typeface="Roboto"/>
                <a:cs typeface="Roboto"/>
                <a:sym typeface="Roboto"/>
              </a:rPr>
              <a:t>pixel</a:t>
            </a:r>
            <a:r>
              <a:rPr lang="en-GB" sz="1800">
                <a:solidFill>
                  <a:schemeClr val="dk1"/>
                </a:solidFill>
                <a:latin typeface="Roboto"/>
                <a:ea typeface="Roboto"/>
                <a:cs typeface="Roboto"/>
                <a:sym typeface="Roboto"/>
              </a:rPr>
              <a:t> to a fixed threshold value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Types of thresholding</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Simple thresholding</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Adaptive thresholding</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lphaLcPeriod"/>
            </a:pPr>
            <a:r>
              <a:rPr lang="en-GB" sz="1800">
                <a:solidFill>
                  <a:schemeClr val="dk1"/>
                </a:solidFill>
                <a:latin typeface="Roboto"/>
                <a:ea typeface="Roboto"/>
                <a:cs typeface="Roboto"/>
                <a:sym typeface="Roboto"/>
              </a:rPr>
              <a:t>Otsu’s thresholding</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Canny edge detection:</a:t>
            </a:r>
            <a:endParaRPr b="1" sz="18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Canny is a multi-step algorithm used to detect edges with high accuracy and low noise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Steps </a:t>
            </a:r>
            <a:r>
              <a:rPr lang="en-GB" sz="1800">
                <a:solidFill>
                  <a:schemeClr val="dk1"/>
                </a:solidFill>
                <a:latin typeface="Roboto"/>
                <a:ea typeface="Roboto"/>
                <a:cs typeface="Roboto"/>
                <a:sym typeface="Roboto"/>
              </a:rPr>
              <a:t>involved</a:t>
            </a:r>
            <a:r>
              <a:rPr lang="en-GB" sz="1800">
                <a:solidFill>
                  <a:schemeClr val="dk1"/>
                </a:solidFill>
                <a:latin typeface="Roboto"/>
                <a:ea typeface="Roboto"/>
                <a:cs typeface="Roboto"/>
                <a:sym typeface="Roboto"/>
              </a:rPr>
              <a:t> -&gt; noise reduction,gradient calculation,non-maxima, double threshold </a:t>
            </a:r>
            <a:endParaRPr sz="18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6"/>
          <p:cNvSpPr txBox="1"/>
          <p:nvPr/>
        </p:nvSpPr>
        <p:spPr>
          <a:xfrm>
            <a:off x="24625" y="49250"/>
            <a:ext cx="9144000" cy="4956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Roboto"/>
              <a:buChar char="●"/>
            </a:pPr>
            <a:r>
              <a:rPr b="1" lang="en-GB" sz="1800">
                <a:solidFill>
                  <a:schemeClr val="accent3"/>
                </a:solidFill>
                <a:latin typeface="Roboto"/>
                <a:ea typeface="Roboto"/>
                <a:cs typeface="Roboto"/>
                <a:sym typeface="Roboto"/>
              </a:rPr>
              <a:t>Image transformation-</a:t>
            </a:r>
            <a:endParaRPr b="1" sz="1800">
              <a:solidFill>
                <a:schemeClr val="accent3"/>
              </a:solidFill>
              <a:latin typeface="Roboto"/>
              <a:ea typeface="Roboto"/>
              <a:cs typeface="Roboto"/>
              <a:sym typeface="Roboto"/>
            </a:endParaRPr>
          </a:p>
          <a:p>
            <a:pPr indent="0" lvl="0" marL="457200" rtl="0" algn="l">
              <a:spcBef>
                <a:spcPts val="0"/>
              </a:spcBef>
              <a:spcAft>
                <a:spcPts val="0"/>
              </a:spcAft>
              <a:buNone/>
            </a:pPr>
            <a:r>
              <a:rPr lang="en-GB" sz="1800">
                <a:solidFill>
                  <a:schemeClr val="dk1"/>
                </a:solidFill>
                <a:latin typeface="Roboto"/>
                <a:ea typeface="Roboto"/>
                <a:cs typeface="Roboto"/>
                <a:sym typeface="Roboto"/>
              </a:rPr>
              <a:t>Image transformation refers to modifying the geometric structure or overall appearance of an image.It changes the position,size,orientation,or shape of the image while keeping the pixels values consistent or adjusting them properly.</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Scaling:</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Changing the size of the image by zooming in or zooming out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Upscaling(making image bigger)</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downscaling(making image smaller)</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Rotation: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Rotates the image by a certain angle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Cropping:</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Trims away the edges focusing on the arts of the image.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Like cutting out distraction to focus on main subject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AutoNum type="arabicPeriod"/>
            </a:pPr>
            <a:r>
              <a:rPr lang="en-GB" sz="1800">
                <a:solidFill>
                  <a:schemeClr val="dk1"/>
                </a:solidFill>
                <a:latin typeface="Roboto"/>
                <a:ea typeface="Roboto"/>
                <a:cs typeface="Roboto"/>
                <a:sym typeface="Roboto"/>
              </a:rPr>
              <a:t>Affine transformation:</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It maintains the lines and parallelism within the image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Includes- rotation,scaling,translation,shearing</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7"/>
          <p:cNvSpPr txBox="1"/>
          <p:nvPr/>
        </p:nvSpPr>
        <p:spPr>
          <a:xfrm>
            <a:off x="-18225" y="36425"/>
            <a:ext cx="9144000" cy="50274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accent3"/>
              </a:buClr>
              <a:buSzPts val="1900"/>
              <a:buFont typeface="Roboto"/>
              <a:buChar char="●"/>
            </a:pPr>
            <a:r>
              <a:rPr b="1" lang="en-GB" sz="1900">
                <a:solidFill>
                  <a:schemeClr val="accent3"/>
                </a:solidFill>
                <a:latin typeface="Roboto"/>
                <a:ea typeface="Roboto"/>
                <a:cs typeface="Roboto"/>
                <a:sym typeface="Roboto"/>
              </a:rPr>
              <a:t>codes:</a:t>
            </a:r>
            <a:endParaRPr b="1" sz="1900">
              <a:solidFill>
                <a:schemeClr val="accent3"/>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Hands on -</a:t>
            </a:r>
            <a:endParaRPr sz="1800">
              <a:solidFill>
                <a:schemeClr val="dk1"/>
              </a:solidFill>
              <a:latin typeface="Roboto"/>
              <a:ea typeface="Roboto"/>
              <a:cs typeface="Roboto"/>
              <a:sym typeface="Roboto"/>
            </a:endParaRPr>
          </a:p>
          <a:p>
            <a:pPr indent="0" lvl="0" marL="914400" rtl="0" algn="l">
              <a:spcBef>
                <a:spcPts val="0"/>
              </a:spcBef>
              <a:spcAft>
                <a:spcPts val="0"/>
              </a:spcAft>
              <a:buNone/>
            </a:pPr>
            <a:r>
              <a:rPr lang="en-GB" sz="1800" u="sng">
                <a:solidFill>
                  <a:schemeClr val="hlink"/>
                </a:solidFill>
                <a:latin typeface="Roboto"/>
                <a:ea typeface="Roboto"/>
                <a:cs typeface="Roboto"/>
                <a:sym typeface="Roboto"/>
                <a:hlinkClick r:id="rId3"/>
              </a:rPr>
              <a:t>https://colab.research.google.com/drive/11Hm5bgR-seJ2KOfMm4FatZ15zN2S4qEE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POC -</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Convert a real-time webcam feed to edge-detected view.</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u="sng">
                <a:solidFill>
                  <a:schemeClr val="hlink"/>
                </a:solidFill>
                <a:latin typeface="Roboto"/>
                <a:ea typeface="Roboto"/>
                <a:cs typeface="Roboto"/>
                <a:sym typeface="Roboto"/>
                <a:hlinkClick r:id="rId4"/>
              </a:rPr>
              <a:t>https://colab.research.google.com/drive/1RJhzEM4THJweEq3kmD_ICB0n62MYY9U1</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GB" sz="1800">
                <a:solidFill>
                  <a:schemeClr val="dk1"/>
                </a:solidFill>
                <a:latin typeface="Roboto"/>
                <a:ea typeface="Roboto"/>
                <a:cs typeface="Roboto"/>
                <a:sym typeface="Roboto"/>
              </a:rPr>
              <a:t>Auto-crop face from images using OpenCV Haar cascades.</a:t>
            </a:r>
            <a:endParaRPr sz="1800">
              <a:solidFill>
                <a:schemeClr val="dk1"/>
              </a:solidFill>
              <a:latin typeface="Roboto"/>
              <a:ea typeface="Roboto"/>
              <a:cs typeface="Roboto"/>
              <a:sym typeface="Roboto"/>
            </a:endParaRPr>
          </a:p>
          <a:p>
            <a:pPr indent="-342900" lvl="0" marL="914400" rtl="0" algn="l">
              <a:spcBef>
                <a:spcPts val="0"/>
              </a:spcBef>
              <a:spcAft>
                <a:spcPts val="0"/>
              </a:spcAft>
              <a:buClr>
                <a:schemeClr val="dk1"/>
              </a:buClr>
              <a:buSzPts val="1800"/>
              <a:buFont typeface="Roboto"/>
              <a:buChar char="-"/>
            </a:pPr>
            <a:r>
              <a:rPr lang="en-GB" sz="1800" u="sng">
                <a:solidFill>
                  <a:schemeClr val="hlink"/>
                </a:solidFill>
                <a:latin typeface="Roboto"/>
                <a:ea typeface="Roboto"/>
                <a:cs typeface="Roboto"/>
                <a:sym typeface="Roboto"/>
                <a:hlinkClick r:id="rId5"/>
              </a:rPr>
              <a:t>https://colab.research.google.com/drive/19qIIBblHIYoZHbb-zfHTYHRVNdqZ7Ls1#scrollTo=PkzhkXMarMJ7</a:t>
            </a:r>
            <a:endParaRPr sz="18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