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 Slab"/>
      <p:regular r:id="rId19"/>
      <p:bold r:id="rId20"/>
    </p:embeddedFon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bold.fntdata"/><Relationship Id="rId11" Type="http://schemas.openxmlformats.org/officeDocument/2006/relationships/slide" Target="slides/slide5.xml"/><Relationship Id="rId22" Type="http://schemas.openxmlformats.org/officeDocument/2006/relationships/font" Target="fonts/Roboto-bold.fntdata"/><Relationship Id="rId10" Type="http://schemas.openxmlformats.org/officeDocument/2006/relationships/slide" Target="slides/slide4.xml"/><Relationship Id="rId21" Type="http://schemas.openxmlformats.org/officeDocument/2006/relationships/font" Target="fonts/Roboto-regular.fntdata"/><Relationship Id="rId13" Type="http://schemas.openxmlformats.org/officeDocument/2006/relationships/slide" Target="slides/slide7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6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Slab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a69d090a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a69d090a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a69d090a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a69d090a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69d090a7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a69d090a7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e77a616a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e77a616a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e77a616a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e77a616a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aaff5675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aaff5675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aaff567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aaff567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aaff5675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aaff5675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aaff5675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aaff5675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b694787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b694787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b694787d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b694787d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b965784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b965784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57" name="Google Shape;57;p1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5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5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6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17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1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1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" name="Google Shape;89;p21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21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3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23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olab.research.google.com/drive/10dxQFzejMrkO_1PspD09JPS959bQMmLs#scrollTo=K0qeIqFe57wH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PROCESSING</a:t>
            </a:r>
            <a:endParaRPr/>
          </a:p>
        </p:txBody>
      </p:sp>
      <p:sp>
        <p:nvSpPr>
          <p:cNvPr id="109" name="Google Shape;109;p25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WEEK-1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 NN to classify image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/>
        </p:nvSpPr>
        <p:spPr>
          <a:xfrm>
            <a:off x="18225" y="36425"/>
            <a:ext cx="91257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oboto"/>
              <a:buChar char="●"/>
            </a:pPr>
            <a:r>
              <a:rPr b="1" lang="en-GB" sz="19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Neural network basics: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neural network is a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computational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model inspired by human brain.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used for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separating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non-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linearly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separable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data.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work of neural network is to approximate the class by using learnable parameter.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this diagram it represents a two-layer neural network, We have the hidden layer.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linear function and activation function is known as an artificial neuron.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figure the hidden layer has two artificial neurons.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output layer has one artificial neurons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137" y="2879947"/>
            <a:ext cx="5115875" cy="226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/>
        </p:nvSpPr>
        <p:spPr>
          <a:xfrm>
            <a:off x="25100" y="-18250"/>
            <a:ext cx="91188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Fully connected Neural network architecture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Fully connected neural network architecture deals with how to arrange the different number of hidden layers and neurons.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the neural network if we have more than one hidden layers that is called a deep neural network.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But neurons, or more layers may lead to overfitting.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output layer uses activation function .Each neuron is a linear classifier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learn parameters we have to perform gradient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descent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, but deeper the network gets the smaller the gradient gets.This is called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vanishing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gradient problem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Neural network are trained in 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similar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manner to logistic regression and softmax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Sigmoid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activation function suffers from vanishing gradient problem but ReLU solve the vanishing gradient problem.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/>
        </p:nvSpPr>
        <p:spPr>
          <a:xfrm>
            <a:off x="13675" y="-1825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CNN?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convolutional network or CNN is a neural network with special layers.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model classifies an image by taking a part of the image . Each input image will pass through series of convolutional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lakers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with filter ,pooling layers,fully connected layers and while applying activation functions to classify an object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Convolution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pooling layers are the first layers used to extract features from input.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kernel or filter of Convolution will detect different property of the image.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Receptive field id the size of the region in the input that produces a pixel value in av.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" name="Google Shape;1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225" y="1532802"/>
            <a:ext cx="7399549" cy="221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/>
        </p:nvSpPr>
        <p:spPr>
          <a:xfrm>
            <a:off x="-12675" y="-12675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oboto"/>
              <a:buChar char="●"/>
            </a:pPr>
            <a:r>
              <a:rPr b="1" lang="en-GB" sz="19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CNN?</a:t>
            </a:r>
            <a:endParaRPr b="1" sz="19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CNN’s are used as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they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understand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 image just an human brain does.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haracteristics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They captures spatial features :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as cnn use convolutions(filters) to capture the local patterns automatically.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Automatic feature extraction :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Traditional ML were required to use : HOG,SIFT,SURF,LBP but CNN learned to extract features automatically, and no manual feature engineering needed.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Parameter sharing :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as a 3X3 filter slides is used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across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whole image , this reduces the no of parameters as 3X3 filter only requires 9 parameters . This makes CNN faster, cheaper.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Translation</a:t>
            </a: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 invariance :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if in an image an object is slightly moved , a normal nn will fail but a CNN will still recognizes it as the filters detects features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Work extremely well in </a:t>
            </a: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real</a:t>
            </a: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-world vision tasks :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used for real-world application as it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outperforms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classical ML by a huge margin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Hierarchy of feature feature learning :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CNN learns and extracts features from simple to complex as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hierarchy.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Efficient with images,videos,audio :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CNN  works well with grid-like data.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/>
        </p:nvSpPr>
        <p:spPr>
          <a:xfrm>
            <a:off x="25325" y="-12675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oboto"/>
              <a:buChar char="●"/>
            </a:pPr>
            <a:r>
              <a:rPr b="1" lang="en-GB" sz="19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Convolutional -&gt; filter :</a:t>
            </a:r>
            <a:endParaRPr b="1" sz="19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Filter :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 filter also known as kernel is a small matrix of numbers of dimensions usually : 3X3 , 5X5 , 7X7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Convolution is the sliding of the filter over the image and multiplying pixel values and output is called feature map.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In CNN we use convolution for detecting patterns like: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Edge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Corners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Texture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Color change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Curve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Shape part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Different filter learn different features.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classical computer vision, human designed filters but in CNN filters automatically learns values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2"/>
          <p:cNvSpPr txBox="1"/>
          <p:nvPr/>
        </p:nvSpPr>
        <p:spPr>
          <a:xfrm>
            <a:off x="12675" y="-25325"/>
            <a:ext cx="9144000" cy="5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oboto"/>
              <a:buChar char="●"/>
            </a:pPr>
            <a:r>
              <a:rPr b="1" lang="en-GB" sz="19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Max pooling :</a:t>
            </a:r>
            <a:endParaRPr b="1" sz="19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Max pooling is an downsampling operation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CNN.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It helps in 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Reduces image size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Reduce computation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Keep important features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Make the network more robust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Most commonly we use 2X2 max pooling with stride 2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max-pooling we select the maximum number from the selected matrix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4076" y="2571752"/>
            <a:ext cx="5635852" cy="230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/>
        </p:nvSpPr>
        <p:spPr>
          <a:xfrm>
            <a:off x="50700" y="64050"/>
            <a:ext cx="9093300" cy="50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oboto"/>
              <a:buChar char="●"/>
            </a:pPr>
            <a:r>
              <a:rPr b="1" lang="en-GB" sz="19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Activation functions :</a:t>
            </a:r>
            <a:endParaRPr b="1" sz="19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 activation function decides whether a neuron is activated or not.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helps in introducing non-linearity.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Without activation function becomes a neural network becomes just a linear equation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Common activation functions: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ReLU(rectified linear unit):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ReLU is commonly used in modern neural network and especially in CNN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Formulae: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works by : if input is positive then it return the input but if its is negative or zero it returns 0.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helps in removing negative values and helps in avoiding vanishing gradient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Drawback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: dying ReLU problem : sometimes neurons get stuck and always return 0 as output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Relu is not used at the output layer.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3" name="Google Shape;15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088" y="2349600"/>
            <a:ext cx="267652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/>
          <p:nvPr/>
        </p:nvSpPr>
        <p:spPr>
          <a:xfrm>
            <a:off x="0" y="-41375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Softmax: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4"/>
          <p:cNvSpPr txBox="1"/>
          <p:nvPr/>
        </p:nvSpPr>
        <p:spPr>
          <a:xfrm>
            <a:off x="0" y="290900"/>
            <a:ext cx="91440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Softmax function is an activation function 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used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 in the output layer of multi-class classification problems.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Network normally outputs number and not probllaties , to arrange the output in the range of 0 - 1 such that sum = 1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Formulae :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Input is converted into probabilities 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Used in Multi-class classification.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60" name="Google Shape;16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950" y="1538825"/>
            <a:ext cx="2372100" cy="7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/>
        </p:nvSpPr>
        <p:spPr>
          <a:xfrm>
            <a:off x="7950" y="15925"/>
            <a:ext cx="9144000" cy="5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oboto"/>
              <a:buChar char="●"/>
            </a:pPr>
            <a:r>
              <a:rPr b="1" lang="en-GB" sz="1900">
                <a:solidFill>
                  <a:schemeClr val="accent3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Architecture Overview(VGG,ResNet) :</a:t>
            </a:r>
            <a:endParaRPr b="1" sz="1900">
              <a:solidFill>
                <a:schemeClr val="accent3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3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chemeClr val="accent2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VGG architecture(VGG16/VGG19) :</a:t>
            </a:r>
            <a:endParaRPr b="1" sz="1800">
              <a:solidFill>
                <a:schemeClr val="accent2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Stands for visual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geometry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group created by oxford VGG in 2014.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shows the deep networks with small filters (3X3) improves accuracy.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Key components : 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uses only 3X3 convolutions : kernel size-&gt;3x3 , stride = 1,easy to stack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Uses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max-pooling : reduces spatial size and keeps depth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Depth : VGG16 -&gt;16 layers , VGG19 -&gt; 19 layers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Drawbacks :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very heavy(138 parameters) , slow to train , large memory usage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chemeClr val="accent2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ResNet :</a:t>
            </a:r>
            <a:endParaRPr b="1" sz="1800">
              <a:solidFill>
                <a:schemeClr val="accent2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Stands for Residual networks introduced by microsoft  in 2015.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used for solving the vanishing gradient problem when CNN becomes very deep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network skips a layer if not needed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Helps in preventing vanishing gradients ,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Degradation in accuracy and hard optimization.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35"/>
          <p:cNvPicPr preferRelativeResize="0"/>
          <p:nvPr/>
        </p:nvPicPr>
        <p:blipFill rotWithShape="1">
          <a:blip r:embed="rId3">
            <a:alphaModFix/>
          </a:blip>
          <a:srcRect b="0" l="0" r="32487" t="0"/>
          <a:stretch/>
        </p:blipFill>
        <p:spPr>
          <a:xfrm>
            <a:off x="5948948" y="4053150"/>
            <a:ext cx="2912100" cy="10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6"/>
          <p:cNvSpPr txBox="1"/>
          <p:nvPr/>
        </p:nvSpPr>
        <p:spPr>
          <a:xfrm>
            <a:off x="9850" y="29525"/>
            <a:ext cx="91440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POC: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Training miniature CNN model for cats and dogs classification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https://colab.research.google.com/drive/10dxQFzejMrkO_1PspD09JPS959bQMmLs#scrollTo=K0qeIqFe57wH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