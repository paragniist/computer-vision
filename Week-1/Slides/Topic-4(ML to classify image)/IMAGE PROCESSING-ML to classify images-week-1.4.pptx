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 Slab"/>
      <p:regular r:id="rId30"/>
      <p:bold r:id="rId31"/>
    </p:embeddedFont>
    <p:embeddedFont>
      <p:font typeface="Robo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Slab-bold.fntdata"/><Relationship Id="rId30" Type="http://schemas.openxmlformats.org/officeDocument/2006/relationships/font" Target="fonts/RobotoSlab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.fntdata"/><Relationship Id="rId10" Type="http://schemas.openxmlformats.org/officeDocument/2006/relationships/slide" Target="slides/slide4.xml"/><Relationship Id="rId32" Type="http://schemas.openxmlformats.org/officeDocument/2006/relationships/font" Target="fonts/Roboto-regular.fntdata"/><Relationship Id="rId13" Type="http://schemas.openxmlformats.org/officeDocument/2006/relationships/slide" Target="slides/slide7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494d445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494d445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494d4457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494d4457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d0c01a0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d0c01a0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d0c01a06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d0c01a06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d0c01a06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d0c01a06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d0c01a06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d0c01a06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d0c01a06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d0c01a06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a494d4457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a494d4457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494d4457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a494d4457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a494d4457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a494d4457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494d4457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a494d4457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d6710d7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d6710d7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d6710d7b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d6710d7b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d6710d7b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d6710d7b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d6710d7b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d6710d7b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d6710d7b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d6710d7b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d6710d7b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d6710d7b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d6710d7b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d6710d7b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d6710d7b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d6710d7b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a494d4457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a494d445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a494d4457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a494d4457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a494d4457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a494d4457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bc4bff3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bc4bff3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57" name="Google Shape;57;p1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" name="Google Shape;89;p2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2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3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olab.research.google.com/drive/1nydnGhFaF9PMRkem3e2B0MPwu5TNDbi3#scrollTo=nTZQfyT-yglN" TargetMode="External"/><Relationship Id="rId4" Type="http://schemas.openxmlformats.org/officeDocument/2006/relationships/hyperlink" Target="https://colab.research.google.com/drive/1CMkeK6cf0Zl4MrG0sm0UtXW_Q2bicQB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PROCESSING</a:t>
            </a:r>
            <a:endParaRPr/>
          </a:p>
        </p:txBody>
      </p:sp>
      <p:sp>
        <p:nvSpPr>
          <p:cNvPr id="109" name="Google Shape;109;p25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WEEK-1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4. ML to classify an image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/>
        </p:nvSpPr>
        <p:spPr>
          <a:xfrm>
            <a:off x="0" y="0"/>
            <a:ext cx="9144000" cy="50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is image classification :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classification is the process of taking an image or picture and getting a computer to automatically classify it ,or try providing the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probability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the class of the image.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Use cases 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Organize the photos on phones gallery by friends,family,etc.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radiology it is used to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anomalies in x-rays.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self-driving cars to identify object around us.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Challenges: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Change in viewport.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3">
            <a:alphaModFix/>
          </a:blip>
          <a:srcRect b="0" l="16715" r="6254" t="2610"/>
          <a:stretch/>
        </p:blipFill>
        <p:spPr>
          <a:xfrm>
            <a:off x="2721450" y="2799275"/>
            <a:ext cx="3700900" cy="21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/>
        </p:nvSpPr>
        <p:spPr>
          <a:xfrm>
            <a:off x="19675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Change in illumination 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Change in deformation 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437" y="375855"/>
            <a:ext cx="5315126" cy="16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9875" y="2611125"/>
            <a:ext cx="4124232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/>
        </p:nvSpPr>
        <p:spPr>
          <a:xfrm>
            <a:off x="39375" y="0"/>
            <a:ext cx="56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39375" y="25"/>
            <a:ext cx="91047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Change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occlusion 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Background clutter 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9838" y="461700"/>
            <a:ext cx="41243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075" y="2853550"/>
            <a:ext cx="5231300" cy="170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/>
        </p:nvSpPr>
        <p:spPr>
          <a:xfrm>
            <a:off x="19675" y="-1967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Image classification with KNN :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KNN 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KNN stands for k-nearest neighbours.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the simplest classification algorithm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It classifies the unknown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by most common class and find the nearest points to the class.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calculates the common points by calculating the euclidean distance between 2 points.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Working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works by calculating the distance between each point present in the classes and the unknown element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unknown element gets the label of the class with which it had the smallest distance.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KNN is not used for multiclass classification , knn works slows while dealing with multiple classes.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/>
        </p:nvSpPr>
        <p:spPr>
          <a:xfrm>
            <a:off x="-9850" y="0"/>
            <a:ext cx="9144000" cy="51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Training </a:t>
            </a: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testing set: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Separation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the dataset into training and testing set is an important part of model evaluation.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Out of 100% of dataset 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70%,60%,or 80% of the data is used as training set to train the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20%,30% or 40% of the data is used as testing set to test the model on new data.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Accuracy :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Accuracy is determine how good the model works.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Accuracy is determined by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calculating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number of times model predicted data correctly.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1- dogs in the dataset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0- cats in the dataset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 - actual class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y^ - predicted class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225" y="3368245"/>
            <a:ext cx="3524099" cy="11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/>
        </p:nvSpPr>
        <p:spPr>
          <a:xfrm>
            <a:off x="48125" y="30625"/>
            <a:ext cx="9096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Char char="●"/>
            </a:pPr>
            <a:r>
              <a:rPr b="1" lang="en-GB" sz="2800">
                <a:solidFill>
                  <a:schemeClr val="accent3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Feature extraction techniques:</a:t>
            </a:r>
            <a:endParaRPr b="1" sz="2800">
              <a:solidFill>
                <a:schemeClr val="accent3"/>
              </a:solidFill>
              <a:highlight>
                <a:schemeClr val="accent6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3"/>
              </a:solidFill>
              <a:highlight>
                <a:schemeClr val="accent6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HOG -&gt; Histogram of oriented gradients: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Captures edges directions and object shape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HOG captures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Shapes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Human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silhouettes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 boundaries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Working: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pixel gradients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Divide image into small cells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 histograms of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directions in each cell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Normalize them in  blocks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Combine all histogram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Widely used in pedestrian detection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/>
        </p:nvSpPr>
        <p:spPr>
          <a:xfrm>
            <a:off x="17200" y="5725"/>
            <a:ext cx="91269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SIFT- Scale invariant feature transform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used for 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Extracts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points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that are stable under : scale changes, rotation , illumination changes.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Working 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Detect important points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orientation around each point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a 128-d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descriptor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these descriptors for matching or classification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enefits: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Works well even when the images are resized or rotated.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/>
        </p:nvSpPr>
        <p:spPr>
          <a:xfrm>
            <a:off x="31525" y="20075"/>
            <a:ext cx="9144000" cy="50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SURF - Speeded up robust features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faster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version of SIFT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Working 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box filters and integral images for speed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Still scale and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rotation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invariant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Produces describes like SIFT but faster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Use cases: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 matching ,tracking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 txBox="1"/>
          <p:nvPr/>
        </p:nvSpPr>
        <p:spPr>
          <a:xfrm>
            <a:off x="0" y="0"/>
            <a:ext cx="9144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LBP - Local Binary Patterns: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Captures textures information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Working 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it with its 8 neighbours.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neighbor&gt;=center -&gt;then “1”,else”0”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an 8-bit binary number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Convert to decimal , and build histogram of all LBP values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Use case: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Face recognition , texture analysis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/>
        </p:nvSpPr>
        <p:spPr>
          <a:xfrm>
            <a:off x="29525" y="9850"/>
            <a:ext cx="9144000" cy="50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Linear classifiers 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Linear classifier is the most simplest and widely used models in machine learning.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used for predicting the class of the data point by computing the weighted sum of its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applying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decision rules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makes decision as : if f(x)&gt;0 -&gt;class 1 or else class 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Linear classifiers works by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separating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classes by using a straight line.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Fast and easy to train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Works well with high dimensional data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 great accuracy when the data is linearly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separable.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Disadvantage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Cannot model complex nonlinear patterns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Performs poorly if classes overlaps in nonlinearly. way.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9300" y="2911532"/>
            <a:ext cx="2572400" cy="13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7"/>
          <p:cNvSpPr txBox="1"/>
          <p:nvPr/>
        </p:nvSpPr>
        <p:spPr>
          <a:xfrm>
            <a:off x="25300" y="25300"/>
            <a:ext cx="91188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Logistic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regression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Logistic regression is type of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linear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classifier that uses sigmoid function to convert the output to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probability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Logistic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works best for binary classification.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Sigmoid function 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value of z is very large negative then the expression is approximately zero.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-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the value of z is very large positive then the expression is approximately one.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Everything in middle has value between 1 and 0.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make multiple decision boundary and has to select the best decision boundary for classification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975" y="1195525"/>
            <a:ext cx="17335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800" y="2325475"/>
            <a:ext cx="624840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 txBox="1"/>
          <p:nvPr/>
        </p:nvSpPr>
        <p:spPr>
          <a:xfrm>
            <a:off x="12650" y="1265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8"/>
          <p:cNvSpPr txBox="1"/>
          <p:nvPr/>
        </p:nvSpPr>
        <p:spPr>
          <a:xfrm>
            <a:off x="12650" y="33000"/>
            <a:ext cx="9144000" cy="50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Loss function: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function determines how good your prediction is 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Every time your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prediction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correct =&gt; 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Every time your prediction is incorrect =&gt; 1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Cost function: classification error: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Cost function yells how good our learnable parameters are doing on the dataset.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loss increase the cost 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Cost is the sum of loss and cost is related to decision boundary the better the decision boundary is cost is going to be 0.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p38"/>
          <p:cNvPicPr preferRelativeResize="0"/>
          <p:nvPr/>
        </p:nvPicPr>
        <p:blipFill rotWithShape="1">
          <a:blip r:embed="rId3">
            <a:alphaModFix/>
          </a:blip>
          <a:srcRect b="0" l="8659" r="12835" t="5517"/>
          <a:stretch/>
        </p:blipFill>
        <p:spPr>
          <a:xfrm>
            <a:off x="3470875" y="1305175"/>
            <a:ext cx="2202251" cy="18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8"/>
          <p:cNvSpPr txBox="1"/>
          <p:nvPr/>
        </p:nvSpPr>
        <p:spPr>
          <a:xfrm>
            <a:off x="816950" y="5452900"/>
            <a:ext cx="56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9"/>
          <p:cNvSpPr txBox="1"/>
          <p:nvPr/>
        </p:nvSpPr>
        <p:spPr>
          <a:xfrm>
            <a:off x="9850" y="19675"/>
            <a:ext cx="9094800" cy="5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Cross entropy: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Cross-entropy deals with how likely the image is going to be in a specific class.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likelihood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belonging to a particular class incorrect is large then cross entropy will be large.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likelihood of belonging to a particular class correct  then cross entropy will be small but not zero.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Gradient descent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Gradient descent is a method to find the minimum of the cost function.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Formulae 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b^i = updated parameter at current iteration i.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b^i-1 = parameter value of the previous iteration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Eta is the learning rate-&gt; a hyper parameter that controls the size of steps taken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gradient becomes zero ,the parameter stops updating.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3" name="Google Shape;19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738" y="1781553"/>
            <a:ext cx="6008526" cy="10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8899" y="3416974"/>
            <a:ext cx="2637625" cy="5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203" y="118125"/>
            <a:ext cx="5489076" cy="197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0975" y="2393750"/>
            <a:ext cx="3432356" cy="27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0"/>
          <p:cNvSpPr txBox="1"/>
          <p:nvPr/>
        </p:nvSpPr>
        <p:spPr>
          <a:xfrm>
            <a:off x="-9850" y="2923325"/>
            <a:ext cx="30711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Learning curves =&gt;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 txBox="1"/>
          <p:nvPr/>
        </p:nvSpPr>
        <p:spPr>
          <a:xfrm>
            <a:off x="0" y="0"/>
            <a:ext cx="29400" cy="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1"/>
          <p:cNvSpPr txBox="1"/>
          <p:nvPr/>
        </p:nvSpPr>
        <p:spPr>
          <a:xfrm>
            <a:off x="9850" y="29525"/>
            <a:ext cx="91440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Mini-batch gradient descent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mini-batch gradient descent we divide the dataset into small batches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batch we can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calculate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loss, compute the gradient and update the model weights.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we use all the samples in the dataset we call it as an epoch.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called batch gradient descent where one iteration is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equal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one epoch.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Epoch :\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Epoch means one complete pass of the entire training dataset through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- reading a book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One epoch =&gt; reading a whole book once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Multiple epochs means reading the book many times so the model can learn well.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Reduces loss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Adjust weights better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Improve accuracy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one epoch we can have multiple batchs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/>
        </p:nvSpPr>
        <p:spPr>
          <a:xfrm>
            <a:off x="39375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of iterations 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Softmax and multi-class classification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Argmax function 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Argmax function returns the index of largest value in sequence of numbers.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Softmax is a simple linear classifier used for multiclass classification(more than 2 classes)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970" y="9850"/>
            <a:ext cx="2935125" cy="6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630" y="2935923"/>
            <a:ext cx="5365670" cy="206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2"/>
          <p:cNvPicPr preferRelativeResize="0"/>
          <p:nvPr/>
        </p:nvPicPr>
        <p:blipFill rotWithShape="1">
          <a:blip r:embed="rId5">
            <a:alphaModFix/>
          </a:blip>
          <a:srcRect b="13254" l="9166" r="24024" t="0"/>
          <a:stretch/>
        </p:blipFill>
        <p:spPr>
          <a:xfrm>
            <a:off x="6319100" y="2709575"/>
            <a:ext cx="2430875" cy="23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3"/>
          <p:cNvSpPr txBox="1"/>
          <p:nvPr/>
        </p:nvSpPr>
        <p:spPr>
          <a:xfrm>
            <a:off x="19675" y="0"/>
            <a:ext cx="9144000" cy="50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Sometimes the softmax function is not the best option 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 of softmax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simple and fast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Works well with multi-class classification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in CNN final layers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for text,images classification tasks.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Disadvantage of softmax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learn linear values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Sensitive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outliers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Poor performance in high-dimensional data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Assumes classes are mutually exclusive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4"/>
          <p:cNvSpPr txBox="1"/>
          <p:nvPr/>
        </p:nvSpPr>
        <p:spPr>
          <a:xfrm>
            <a:off x="17200" y="2007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Char char="●"/>
            </a:pPr>
            <a:r>
              <a:rPr b="1" lang="en-GB" sz="2800">
                <a:solidFill>
                  <a:schemeClr val="accent3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Classical ML Classifiers</a:t>
            </a:r>
            <a:r>
              <a:rPr b="1" lang="en-GB" sz="2800">
                <a:solidFill>
                  <a:schemeClr val="accent3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2800">
              <a:solidFill>
                <a:schemeClr val="accent3"/>
              </a:solidFill>
              <a:highlight>
                <a:schemeClr val="accent6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3"/>
              </a:solidFill>
              <a:highlight>
                <a:schemeClr val="accent6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SVM - support vector machine:</a:t>
            </a:r>
            <a:endParaRPr b="1" sz="1800">
              <a:solidFill>
                <a:schemeClr val="accent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Helps in finding best separating hyperplane between classes.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Need ?: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Works well with high-dimensional feature like HOG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 kernels to classify non-linear patterns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Output: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Binary or multi-class prediction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Random forest:</a:t>
            </a:r>
            <a:endParaRPr b="1" sz="1800">
              <a:solidFill>
                <a:schemeClr val="accent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It is an ensemble of many decision trees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Each tree give a vote -&gt; majority decides output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Strengths: 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Handles noisy data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Robust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Works well when combined with texture-based features.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5"/>
          <p:cNvSpPr txBox="1"/>
          <p:nvPr/>
        </p:nvSpPr>
        <p:spPr>
          <a:xfrm>
            <a:off x="17200" y="572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KNN - k-nearest neighbors: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computes the prediction by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distance to all the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samples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Pick k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nearest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Majority label becomes output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Pros 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Very simple , no real training phase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Cons: 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Slow during prediction ,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sensitive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noisy features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6"/>
          <p:cNvSpPr txBox="1"/>
          <p:nvPr/>
        </p:nvSpPr>
        <p:spPr>
          <a:xfrm>
            <a:off x="0" y="63050"/>
            <a:ext cx="9046500" cy="5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classical ML fails compared to deep learning: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learning(CNNs) has replaced classical ML for several reasons: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AutoNum type="arabicPeriod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Manual feature engineering: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Classical ml need - HOG,SIFT,LBP,color features,etc and are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designs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by humans. But CNNs learn features automatically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AutoNum type="arabicPeriod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Not robust to variations: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Traditional ML fails with : different lighting,background clutter,rotations,scaling.CNNs handle these naturally.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AutoNum type="arabicPeriod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Shallow representations: 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classical ML extracts low-level feature only,CNN extracts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hierarchical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features: low-level-&gt;edges,mid-level-&gt;corners,textures,high-level -&gt; object concepts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Cannot handle large datasets: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traditional ml is memory expensive. Deep prediction scales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perfectly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 GPUs and large data.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AutoNum type="arabicPeriod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Lower accuracy : 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Modern accuracy architectures outperform classical ML by huge margins.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7"/>
          <p:cNvSpPr txBox="1"/>
          <p:nvPr/>
        </p:nvSpPr>
        <p:spPr>
          <a:xfrm>
            <a:off x="-9125" y="2737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POC -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3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Cat vs Dog classification using HOG+SVM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 sz="1800" u="sng">
                <a:solidFill>
                  <a:schemeClr val="hlink"/>
                </a:solidFill>
                <a:hlinkClick r:id="rId3"/>
              </a:rPr>
              <a:t>https://colab.research.google.com/drive/1nydnGhFaF9PMRkem3e2B0MPwu5TNDbi3#scrollTo=nTZQfyT-yglN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Real-time webcam classification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 sz="1800" u="sng">
                <a:solidFill>
                  <a:schemeClr val="hlink"/>
                </a:solidFill>
                <a:hlinkClick r:id="rId4"/>
              </a:rPr>
              <a:t>https://colab.research.google.com/drive/1CMkeK6cf0Zl4MrG0sm0UtXW_Q2bicQBc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